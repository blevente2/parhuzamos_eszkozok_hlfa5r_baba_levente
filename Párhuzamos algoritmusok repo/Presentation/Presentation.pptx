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44" y="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2D0B01-BF5E-A4EB-1364-8B919D7BB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7E45B75-37A5-1F32-16D8-5EA1787A1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C7D0FE-EB4C-9183-4C89-FE868D3B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680176-EADE-A555-967D-59CA5184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7D3DD90-F035-B034-A76C-E2636BB1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141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787B7D-3CB2-FC37-FFDF-2F185D28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88E93F2-A942-7FF0-E7E2-132054AF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4ED1E68-8824-A61C-2F80-A712616E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A6952B-FF28-7C84-4B4D-74298C26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FB5BE1B-584A-8FF6-824D-C8616F3D4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358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A2606F-432D-A4EA-2479-D2504059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019EC39-313C-E29D-0EEB-CEA7D768E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2D91067-4412-9578-E98E-2D4891A7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887C2D-93AA-51B3-CF9C-5ACD311A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7E55519-CB09-C887-9508-EDD2D05F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163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1C4EE4-15DB-FE80-35F7-1F593362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832B99-F59E-89FC-A8BF-41BB1D3E9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5F6A902-7AC1-3248-2E4C-A2BEADFB8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C0399E-83BD-334C-4713-C3E76EC2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1DF8B70-F510-381B-53B0-AB64BF51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986ECF1-E055-0850-0A57-4CC312C9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714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6F3D9B-C269-588C-BA9A-6F7B8384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25FAB50-33C1-5539-B869-E5BA371F0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9CB8571-A295-F3AF-8373-97DEB1585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BF4C066-2030-D105-C766-4DC64B2B3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914F643-9A2D-0433-0436-4DFF6A89D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8CA7F91-C0DD-D7C8-EE3C-7E85EAFC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BB6C55F-091C-5D3E-2EFC-2F796036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3EE6636-6B33-9900-96F4-5CCEBDBF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790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DF1B13-92B6-6850-82A8-08ACE757C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DF86A07-FF2E-222A-E852-8357C9A4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1CE77EC-D231-D5E4-AD6E-055DA388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AE2DE00-BFAE-8899-5976-C1CDCC88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995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EBA5D47-E667-0BBE-0B53-62EE579F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4928678-EA1A-C160-79DD-EADBD3D0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9609B5F-5569-E698-E0A2-7C5908F2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071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E7CE38-B26E-6108-AAAF-A76FC7BE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4E3302-E2EC-5272-03E4-3E3570F68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80AE8A9-1801-F27E-D76B-A9F94814C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07E1028-902D-CEFA-44C3-8026E09D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542FF7D-85B4-402B-E4A3-D0CD633B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69DD9F-EB5D-E3A6-2B91-C1802D5D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968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E1090F-2459-BEF3-CD1A-3580C142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A787B77-FC16-6738-9F46-EB2631550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FB94ED1-6C76-9FF4-2E69-FDEB2D640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C02EEF1-A98F-60C8-C9B6-8395A1BA5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F2E8E33-E07F-D396-852A-6695A1B9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6A83033-E2AF-CAA2-EA3C-C1747478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761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1F0AAD-3E8D-746C-7C0D-5F43A6EE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0848F62-9DC4-DB3A-4A33-212DEC44C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A55DCB-8380-FA20-AFE7-3A54D9C6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E03939-62BE-153B-1666-44C79B1D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67A2D68-46A3-49C3-24D5-DAA3836D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77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1957378-3565-E51C-58A9-19B85330F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4C9BC6C-2EBB-DF64-0139-60D38BB70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92404FE-974B-2323-5E10-D9D95E9B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6FFF62-0A68-F38E-A806-C734B8D7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304F29-60FE-9EEF-069F-353D3F9A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540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5AD1F97-54CE-C2AD-D866-53118A9D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6EE1E01-EA8E-D744-D6D5-1968D98B1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E744786-366D-41C1-C6DA-438D73C91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3D2-B798-43DF-BA2C-52E666263E0F}" type="datetimeFigureOut">
              <a:rPr lang="hu-HU" smtClean="0"/>
              <a:t>2025. 06. 01.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D110F1-D26E-E879-0ACD-176CF6B1C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3A720-FC9B-747A-FD37-7A4B0FDEB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8C08D-EE66-4FAA-A6F5-95E4FE0B62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797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D07EEAB1-7F96-1E59-3A62-83C5DE44C84D}"/>
              </a:ext>
            </a:extLst>
          </p:cNvPr>
          <p:cNvSpPr txBox="1"/>
          <p:nvPr/>
        </p:nvSpPr>
        <p:spPr>
          <a:xfrm>
            <a:off x="0" y="3112715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500" b="1" cap="small" dirty="0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1. Feladat – fájlok integritásának ellenőrzése </a:t>
            </a:r>
            <a:r>
              <a:rPr lang="hu-HU" sz="3500" b="1" cap="small" dirty="0" err="1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pthread</a:t>
            </a:r>
            <a:endParaRPr lang="hu-HU" sz="3500" b="1" cap="small" dirty="0">
              <a:effectLst>
                <a:glow rad="25400">
                  <a:schemeClr val="bg1">
                    <a:lumMod val="95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35146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Mi az az integritás ellenőrzése, és mi szükség van rá?</a:t>
            </a:r>
          </a:p>
          <a:p>
            <a:endParaRPr lang="hu-HU" dirty="0"/>
          </a:p>
          <a:p>
            <a:r>
              <a:rPr lang="hu-HU" sz="2200" dirty="0"/>
              <a:t>Az integritás ellenőrzése azt a folyamatot jelenti, amely során a fájlok tartalmának eredetiségét és sértetlenségét ellenőrizzük. Ennek során általában kriptográfiai </a:t>
            </a:r>
            <a:r>
              <a:rPr lang="hu-HU" sz="2200" dirty="0" err="1"/>
              <a:t>hash</a:t>
            </a:r>
            <a:r>
              <a:rPr lang="hu-HU" sz="2200" dirty="0"/>
              <a:t>-függvényeket (például MD5, SHA-1, SHA-256) használunk, amelyek segítségével – az eredeti fájlra kiszámított – rövid ujjlenyomatot (ellenőrzőösszeget) hasonlítjuk össze az aktuálissal. Ha a két érték megegyezik, garantálható, hogy a fájl nem módosult, nem sérült meg átvitel vagy tárolás közben, és nem került bele illetéktelen tartalom.</a:t>
            </a:r>
          </a:p>
          <a:p>
            <a:endParaRPr lang="hu-HU" sz="2200" dirty="0"/>
          </a:p>
          <a:p>
            <a:r>
              <a:rPr lang="hu-HU" sz="2200" b="1" dirty="0"/>
              <a:t>Mire használják?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/>
              <a:t>Adatbiztonság: Megakadályozza a véletlen vagy szándékos módosításokat (például vírustámadást vagy jogosulatlan hozzáférést).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/>
              <a:t>Hibadetektálás: Segít kiszűrni az átvitel vagy tárolás közben bekövetkező károsodást (pl. médiameghibásodást, hálózati torzulást).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/>
              <a:t>Hitelesség ellenőrzése: Biztosítja, hogy a letöltött vagy áttelepített szoftver- és adatfájlok valóban az elvárt forrásból származnak.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/>
              <a:t>Megfelelőség és auditálás: Szabályozott környezetben (pl. pénzügyi rendszerek, orvosi adatok) elengedhetetlen a </a:t>
            </a:r>
            <a:r>
              <a:rPr lang="hu-HU" sz="2200" dirty="0" err="1"/>
              <a:t>nyomonkövethetőség</a:t>
            </a:r>
            <a:r>
              <a:rPr lang="hu-HU" sz="2200" dirty="0"/>
              <a:t> és a jogi előírások betartása érdekében.</a:t>
            </a:r>
          </a:p>
        </p:txBody>
      </p:sp>
    </p:spTree>
    <p:extLst>
      <p:ext uri="{BB962C8B-B14F-4D97-AF65-F5344CB8AC3E}">
        <p14:creationId xmlns:p14="http://schemas.microsoft.com/office/powerpoint/2010/main" val="7836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Hogyan valósítottam meg ezt több fájl esetében?</a:t>
            </a:r>
          </a:p>
          <a:p>
            <a:endParaRPr lang="hu-HU" dirty="0"/>
          </a:p>
          <a:p>
            <a:r>
              <a:rPr lang="hu-HU" sz="2200" dirty="0"/>
              <a:t>A program először a file\_</a:t>
            </a:r>
            <a:r>
              <a:rPr lang="hu-HU" sz="2200" dirty="0" err="1"/>
              <a:t>scanner</a:t>
            </a:r>
            <a:r>
              <a:rPr lang="hu-HU" sz="2200" dirty="0"/>
              <a:t> modullal rekurzívan bejárja a megadott könyvtárat, és létrehoz egy `FileList` struktúrát, amely minden fájl elérési útját és méretét tartalmazza. A „</a:t>
            </a:r>
            <a:r>
              <a:rPr lang="hu-HU" sz="2200" dirty="0" err="1"/>
              <a:t>create</a:t>
            </a:r>
            <a:r>
              <a:rPr lang="hu-HU" sz="2200" dirty="0"/>
              <a:t>” módban egy `</a:t>
            </a:r>
            <a:r>
              <a:rPr lang="hu-HU" sz="2200" dirty="0" err="1"/>
              <a:t>HashStore</a:t>
            </a:r>
            <a:r>
              <a:rPr lang="hu-HU" sz="2200" dirty="0"/>
              <a:t>`-t hozok létre: minden fájlhoz a sha256 és a </a:t>
            </a:r>
            <a:r>
              <a:rPr lang="hu-HU" sz="2200" dirty="0" err="1"/>
              <a:t>util</a:t>
            </a:r>
            <a:r>
              <a:rPr lang="hu-HU" sz="2200" dirty="0"/>
              <a:t> modulokat használva kiszámolom a SHA-256 </a:t>
            </a:r>
            <a:r>
              <a:rPr lang="hu-HU" sz="2200" dirty="0" err="1"/>
              <a:t>hash</a:t>
            </a:r>
            <a:r>
              <a:rPr lang="hu-HU" sz="2200" dirty="0"/>
              <a:t> értéket, hexadecimális formába alakítom, majd a `</a:t>
            </a:r>
            <a:r>
              <a:rPr lang="hu-HU" sz="2200" dirty="0" err="1"/>
              <a:t>hash_store</a:t>
            </a:r>
            <a:r>
              <a:rPr lang="hu-HU" sz="2200" dirty="0"/>
              <a:t>` modullal kiírom egy kimeneti fájlba.</a:t>
            </a:r>
          </a:p>
          <a:p>
            <a:endParaRPr lang="hu-HU" sz="2200" dirty="0"/>
          </a:p>
          <a:p>
            <a:r>
              <a:rPr lang="hu-HU" sz="2200" dirty="0"/>
              <a:t>A „</a:t>
            </a:r>
            <a:r>
              <a:rPr lang="hu-HU" sz="2200" dirty="0" err="1"/>
              <a:t>check</a:t>
            </a:r>
            <a:r>
              <a:rPr lang="hu-HU" sz="2200" dirty="0"/>
              <a:t>” módban először beolvasom a korábban létrehozott </a:t>
            </a:r>
            <a:r>
              <a:rPr lang="hu-HU" sz="2200" dirty="0" err="1"/>
              <a:t>hash</a:t>
            </a:r>
            <a:r>
              <a:rPr lang="hu-HU" sz="2200" dirty="0"/>
              <a:t>-fájlt a </a:t>
            </a:r>
            <a:r>
              <a:rPr lang="hu-HU" sz="2200" dirty="0" err="1"/>
              <a:t>hash</a:t>
            </a:r>
            <a:r>
              <a:rPr lang="hu-HU" sz="2200" dirty="0"/>
              <a:t>\_</a:t>
            </a:r>
            <a:r>
              <a:rPr lang="hu-HU" sz="2200" dirty="0" err="1"/>
              <a:t>store</a:t>
            </a:r>
            <a:r>
              <a:rPr lang="hu-HU" sz="2200" dirty="0"/>
              <a:t> segítségével, hogy meglegyen az elvárt </a:t>
            </a:r>
            <a:r>
              <a:rPr lang="hu-HU" sz="2200" dirty="0" err="1"/>
              <a:t>hash</a:t>
            </a:r>
            <a:r>
              <a:rPr lang="hu-HU" sz="2200" dirty="0"/>
              <a:t>-sorozat (`</a:t>
            </a:r>
            <a:r>
              <a:rPr lang="hu-HU" sz="2200" dirty="0" err="1"/>
              <a:t>HashStore</a:t>
            </a:r>
            <a:r>
              <a:rPr lang="hu-HU" sz="2200" dirty="0"/>
              <a:t>`). Ezután ismét </a:t>
            </a:r>
            <a:r>
              <a:rPr lang="hu-HU" sz="2200" dirty="0" err="1"/>
              <a:t>megszkennelem</a:t>
            </a:r>
            <a:r>
              <a:rPr lang="hu-HU" sz="2200" dirty="0"/>
              <a:t> a könyvtárat, és a </a:t>
            </a:r>
            <a:r>
              <a:rPr lang="hu-HU" sz="2200" dirty="0" err="1"/>
              <a:t>thread</a:t>
            </a:r>
            <a:r>
              <a:rPr lang="hu-HU" sz="2200" dirty="0"/>
              <a:t>\_</a:t>
            </a:r>
            <a:r>
              <a:rPr lang="hu-HU" sz="2200" dirty="0" err="1"/>
              <a:t>manager</a:t>
            </a:r>
            <a:r>
              <a:rPr lang="hu-HU" sz="2200" dirty="0"/>
              <a:t> modul felosztja a fájlokat méretük alapján több szál (</a:t>
            </a:r>
            <a:r>
              <a:rPr lang="hu-HU" sz="2200" dirty="0" err="1"/>
              <a:t>pthread</a:t>
            </a:r>
            <a:r>
              <a:rPr lang="hu-HU" sz="2200" dirty="0"/>
              <a:t>) között úgy, hogy minden szál egy `</a:t>
            </a:r>
            <a:r>
              <a:rPr lang="hu-HU" sz="2200" dirty="0" err="1"/>
              <a:t>start_idx</a:t>
            </a:r>
            <a:r>
              <a:rPr lang="hu-HU" sz="2200" dirty="0"/>
              <a:t>`–`</a:t>
            </a:r>
            <a:r>
              <a:rPr lang="hu-HU" sz="2200" dirty="0" err="1"/>
              <a:t>end_idx</a:t>
            </a:r>
            <a:r>
              <a:rPr lang="hu-HU" sz="2200" dirty="0"/>
              <a:t>` tartományért felel. Minden szál a </a:t>
            </a:r>
            <a:r>
              <a:rPr lang="hu-HU" sz="2200" dirty="0" err="1"/>
              <a:t>checker</a:t>
            </a:r>
            <a:r>
              <a:rPr lang="hu-HU" sz="2200" dirty="0"/>
              <a:t>\_</a:t>
            </a:r>
            <a:r>
              <a:rPr lang="hu-HU" sz="2200" dirty="0" err="1"/>
              <a:t>worker</a:t>
            </a:r>
            <a:r>
              <a:rPr lang="hu-HU" sz="2200" dirty="0"/>
              <a:t> függvényben végigmegy a hozzárendelt fájlokon: a sha256 és </a:t>
            </a:r>
            <a:r>
              <a:rPr lang="hu-HU" sz="2200" dirty="0" err="1"/>
              <a:t>util</a:t>
            </a:r>
            <a:r>
              <a:rPr lang="hu-HU" sz="2200" dirty="0"/>
              <a:t> modullal kiszámolja az aktuális </a:t>
            </a:r>
            <a:r>
              <a:rPr lang="hu-HU" sz="2200" dirty="0" err="1"/>
              <a:t>hash</a:t>
            </a:r>
            <a:r>
              <a:rPr lang="hu-HU" sz="2200" dirty="0"/>
              <a:t>-t, összeveti a tárolt hexadecimális értékkel, és hibát atomi (`__</a:t>
            </a:r>
            <a:r>
              <a:rPr lang="hu-HU" sz="2200" dirty="0" err="1"/>
              <a:t>sync_fetch_and_add</a:t>
            </a:r>
            <a:r>
              <a:rPr lang="hu-HU" sz="2200" dirty="0"/>
              <a:t>`) művelettel számol. Mindeközben a </a:t>
            </a:r>
            <a:r>
              <a:rPr lang="hu-HU" sz="2200" dirty="0" err="1"/>
              <a:t>timer</a:t>
            </a:r>
            <a:r>
              <a:rPr lang="hu-HU" sz="2200" dirty="0"/>
              <a:t> modul méri a párhuzamos és a szekvenciális ellenőrzés futási idejét, a kezelt bájtok számát, és ezek alapján kiszámítja a gyorsulást és a hatékonyságot. Végül az elért eredményeket, a hibaszámot, a futási időket, valamint a gyorsulást és az egyes szálak hatékonyságát kiírja a konzolra, majd felszabadítja a memóriában lefoglalt struktúrákat.</a:t>
            </a:r>
          </a:p>
        </p:txBody>
      </p:sp>
    </p:spTree>
    <p:extLst>
      <p:ext uri="{BB962C8B-B14F-4D97-AF65-F5344CB8AC3E}">
        <p14:creationId xmlns:p14="http://schemas.microsoft.com/office/powerpoint/2010/main" val="113021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Statisztikák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5F869F79-BB23-DAD9-843B-9052AEA9C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68225"/>
              </p:ext>
            </p:extLst>
          </p:nvPr>
        </p:nvGraphicFramePr>
        <p:xfrm>
          <a:off x="0" y="2147630"/>
          <a:ext cx="1219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524660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531608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433839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24167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17133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3107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err="1"/>
                        <a:t>Threak</a:t>
                      </a:r>
                      <a:r>
                        <a:rPr lang="hu-HU" dirty="0"/>
                        <a:t>-ek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1Thread Idő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Párhuzamos Idő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Párhuzamos seb.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Gyorsítás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/>
                        <a:t>Hatékyonság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47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2.632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1.396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377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68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2.624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1.366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330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6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2.384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1.268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416MB/s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2.384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98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1.8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3.256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162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627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577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D07EEAB1-7F96-1E59-3A62-83C5DE44C84D}"/>
              </a:ext>
            </a:extLst>
          </p:cNvPr>
          <p:cNvSpPr txBox="1"/>
          <p:nvPr/>
        </p:nvSpPr>
        <p:spPr>
          <a:xfrm>
            <a:off x="0" y="3112715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500" b="1" cap="small" dirty="0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2. Feladat –Nagy fájl integritásának ellenőrzése </a:t>
            </a:r>
            <a:r>
              <a:rPr lang="hu-HU" sz="3500" b="1" cap="small" dirty="0" err="1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OpenMP</a:t>
            </a:r>
            <a:endParaRPr lang="hu-HU" sz="3500" b="1" cap="small" dirty="0">
              <a:effectLst>
                <a:glow rad="25400">
                  <a:schemeClr val="bg1">
                    <a:lumMod val="95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9007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Hogyan valósítottam meg ezt egy nagy fájl esetében?</a:t>
            </a:r>
          </a:p>
          <a:p>
            <a:endParaRPr lang="hu-HU" sz="1600" dirty="0"/>
          </a:p>
          <a:p>
            <a:r>
              <a:rPr lang="hu-HU" sz="2200" dirty="0"/>
              <a:t>A program elején a `cli` modul dolgozza fel a parancssori argumentumokat: beolvassa a blokkméretet és a bemeneti fájl elérési útját. Ezután a `</a:t>
            </a:r>
            <a:r>
              <a:rPr lang="hu-HU" sz="2200" dirty="0" err="1"/>
              <a:t>stat</a:t>
            </a:r>
            <a:r>
              <a:rPr lang="hu-HU" sz="2200" dirty="0"/>
              <a:t>` segítségével lekéri a fájl teljes méretét, majd kiszámolja a blokkok számát. A `</a:t>
            </a:r>
            <a:r>
              <a:rPr lang="hu-HU" sz="2200" dirty="0" err="1"/>
              <a:t>FileHasher</a:t>
            </a:r>
            <a:r>
              <a:rPr lang="hu-HU" sz="2200" dirty="0"/>
              <a:t>` struktúrában lefoglal egy tömböt a </a:t>
            </a:r>
            <a:r>
              <a:rPr lang="hu-HU" sz="2200" dirty="0" err="1"/>
              <a:t>blokkonkénti</a:t>
            </a:r>
            <a:r>
              <a:rPr lang="hu-HU" sz="2200" dirty="0"/>
              <a:t> SHA-256 </a:t>
            </a:r>
            <a:r>
              <a:rPr lang="hu-HU" sz="2200" dirty="0" err="1"/>
              <a:t>hash</a:t>
            </a:r>
            <a:r>
              <a:rPr lang="hu-HU" sz="2200" dirty="0"/>
              <a:t>-ek tárolására. „</a:t>
            </a:r>
            <a:r>
              <a:rPr lang="hu-HU" sz="2200" dirty="0" err="1"/>
              <a:t>Create</a:t>
            </a:r>
            <a:r>
              <a:rPr lang="hu-HU" sz="2200" dirty="0"/>
              <a:t>” módban </a:t>
            </a:r>
            <a:r>
              <a:rPr lang="hu-HU" sz="2200" dirty="0" err="1"/>
              <a:t>OpenMP</a:t>
            </a:r>
            <a:r>
              <a:rPr lang="hu-HU" sz="2200" dirty="0"/>
              <a:t>-vel párhuzamosan fut: minden szál a `</a:t>
            </a:r>
            <a:r>
              <a:rPr lang="hu-HU" sz="2200" dirty="0" err="1"/>
              <a:t>file_hasher</a:t>
            </a:r>
            <a:r>
              <a:rPr lang="hu-HU" sz="2200" dirty="0"/>
              <a:t>` modul `</a:t>
            </a:r>
            <a:r>
              <a:rPr lang="hu-HU" sz="2200" dirty="0" err="1"/>
              <a:t>compute_hash</a:t>
            </a:r>
            <a:r>
              <a:rPr lang="hu-HU" sz="2200" dirty="0"/>
              <a:t>` függvényével és a `</a:t>
            </a:r>
            <a:r>
              <a:rPr lang="hu-HU" sz="2200" dirty="0" err="1"/>
              <a:t>pread</a:t>
            </a:r>
            <a:r>
              <a:rPr lang="hu-HU" sz="2200" dirty="0"/>
              <a:t>` rendszerhívással olvassa be a saját részét, a `</a:t>
            </a:r>
            <a:r>
              <a:rPr lang="hu-HU" sz="2200" dirty="0" err="1"/>
              <a:t>hash_block</a:t>
            </a:r>
            <a:r>
              <a:rPr lang="hu-HU" sz="2200" dirty="0"/>
              <a:t>` modul segítségével kiszámítja a </a:t>
            </a:r>
            <a:r>
              <a:rPr lang="hu-HU" sz="2200" dirty="0" err="1"/>
              <a:t>hash</a:t>
            </a:r>
            <a:r>
              <a:rPr lang="hu-HU" sz="2200" dirty="0"/>
              <a:t>-t, majd `</a:t>
            </a:r>
            <a:r>
              <a:rPr lang="hu-HU" sz="2200" dirty="0" err="1"/>
              <a:t>memcpy</a:t>
            </a:r>
            <a:r>
              <a:rPr lang="hu-HU" sz="2200" dirty="0"/>
              <a:t>`-vel tárolja a `</a:t>
            </a:r>
            <a:r>
              <a:rPr lang="hu-HU" sz="2200" dirty="0" err="1"/>
              <a:t>hashes</a:t>
            </a:r>
            <a:r>
              <a:rPr lang="hu-HU" sz="2200" dirty="0"/>
              <a:t>` tömbben. Így zárolások nélkül, több szálon egyszerre </a:t>
            </a:r>
            <a:r>
              <a:rPr lang="hu-HU" sz="2200" dirty="0" err="1"/>
              <a:t>hashelhető</a:t>
            </a:r>
            <a:r>
              <a:rPr lang="hu-HU" sz="2200" dirty="0"/>
              <a:t> a nagy fájl. A </a:t>
            </a:r>
            <a:r>
              <a:rPr lang="hu-HU" sz="2200" dirty="0" err="1"/>
              <a:t>hash</a:t>
            </a:r>
            <a:r>
              <a:rPr lang="hu-HU" sz="2200" dirty="0"/>
              <a:t>-ek után a `</a:t>
            </a:r>
            <a:r>
              <a:rPr lang="hu-HU" sz="2200" dirty="0" err="1"/>
              <a:t>hashfile</a:t>
            </a:r>
            <a:r>
              <a:rPr lang="hu-HU" sz="2200" dirty="0"/>
              <a:t>` modul kiírja a kimeneti fájlba a </a:t>
            </a:r>
            <a:r>
              <a:rPr lang="hu-HU" sz="2200" dirty="0" err="1"/>
              <a:t>metaadatokat</a:t>
            </a:r>
            <a:r>
              <a:rPr lang="hu-HU" sz="2200" dirty="0"/>
              <a:t> (blokkméret, blokkszám, </a:t>
            </a:r>
            <a:r>
              <a:rPr lang="hu-HU" sz="2200" dirty="0" err="1"/>
              <a:t>hash</a:t>
            </a:r>
            <a:r>
              <a:rPr lang="hu-HU" sz="2200" dirty="0"/>
              <a:t>-hossz) és a </a:t>
            </a:r>
            <a:r>
              <a:rPr lang="hu-HU" sz="2200" dirty="0" err="1"/>
              <a:t>blokkhash-eket</a:t>
            </a:r>
            <a:r>
              <a:rPr lang="hu-HU" sz="2200" dirty="0"/>
              <a:t> hexadecimális formában.</a:t>
            </a:r>
          </a:p>
          <a:p>
            <a:r>
              <a:rPr lang="hu-HU" sz="2200" dirty="0"/>
              <a:t>„</a:t>
            </a:r>
            <a:r>
              <a:rPr lang="hu-HU" sz="2200" dirty="0" err="1"/>
              <a:t>Check</a:t>
            </a:r>
            <a:r>
              <a:rPr lang="hu-HU" sz="2200" dirty="0"/>
              <a:t>” módban a `</a:t>
            </a:r>
            <a:r>
              <a:rPr lang="hu-HU" sz="2200" dirty="0" err="1"/>
              <a:t>hashfile</a:t>
            </a:r>
            <a:r>
              <a:rPr lang="hu-HU" sz="2200" dirty="0"/>
              <a:t>` először a `</a:t>
            </a:r>
            <a:r>
              <a:rPr lang="hu-HU" sz="2200" dirty="0" err="1"/>
              <a:t>hf_read</a:t>
            </a:r>
            <a:r>
              <a:rPr lang="hu-HU" sz="2200" dirty="0"/>
              <a:t>` függvénnyel betölti a </a:t>
            </a:r>
            <a:r>
              <a:rPr lang="hu-HU" sz="2200" dirty="0" err="1"/>
              <a:t>hash</a:t>
            </a:r>
            <a:r>
              <a:rPr lang="hu-HU" sz="2200" dirty="0"/>
              <a:t>-fájlt: </a:t>
            </a:r>
            <a:r>
              <a:rPr lang="hu-HU" sz="2200" dirty="0" err="1"/>
              <a:t>metaadatokat</a:t>
            </a:r>
            <a:r>
              <a:rPr lang="hu-HU" sz="2200" dirty="0"/>
              <a:t> és </a:t>
            </a:r>
            <a:r>
              <a:rPr lang="hu-HU" sz="2200" dirty="0" err="1"/>
              <a:t>hash</a:t>
            </a:r>
            <a:r>
              <a:rPr lang="hu-HU" sz="2200" dirty="0"/>
              <a:t>-tömböt olvas be. A `</a:t>
            </a:r>
            <a:r>
              <a:rPr lang="hu-HU" sz="2200" dirty="0" err="1"/>
              <a:t>FileHasher</a:t>
            </a:r>
            <a:r>
              <a:rPr lang="hu-HU" sz="2200" dirty="0"/>
              <a:t>` struktúrát </a:t>
            </a:r>
            <a:r>
              <a:rPr lang="hu-HU" sz="2200" dirty="0" err="1"/>
              <a:t>újrainicializálja</a:t>
            </a:r>
            <a:r>
              <a:rPr lang="hu-HU" sz="2200" dirty="0"/>
              <a:t> a memóriában. Először szekvenciálisan futtatja a `</a:t>
            </a:r>
            <a:r>
              <a:rPr lang="hu-HU" sz="2200" dirty="0" err="1"/>
              <a:t>file_hasher</a:t>
            </a:r>
            <a:r>
              <a:rPr lang="hu-HU" sz="2200" dirty="0"/>
              <a:t>` és a `</a:t>
            </a:r>
            <a:r>
              <a:rPr lang="hu-HU" sz="2200" dirty="0" err="1"/>
              <a:t>hash_block</a:t>
            </a:r>
            <a:r>
              <a:rPr lang="hu-HU" sz="2200" dirty="0"/>
              <a:t>` modulokat a `</a:t>
            </a:r>
            <a:r>
              <a:rPr lang="hu-HU" sz="2200" dirty="0" err="1"/>
              <a:t>fh_compute_serial</a:t>
            </a:r>
            <a:r>
              <a:rPr lang="hu-HU" sz="2200" dirty="0"/>
              <a:t>` függvényben: blokkonként `</a:t>
            </a:r>
            <a:r>
              <a:rPr lang="hu-HU" sz="2200" dirty="0" err="1"/>
              <a:t>pread</a:t>
            </a:r>
            <a:r>
              <a:rPr lang="hu-HU" sz="2200" dirty="0"/>
              <a:t>`-</a:t>
            </a:r>
            <a:r>
              <a:rPr lang="hu-HU" sz="2200" dirty="0" err="1"/>
              <a:t>del</a:t>
            </a:r>
            <a:r>
              <a:rPr lang="hu-HU" sz="2200" dirty="0"/>
              <a:t> beolvassa a fájlt, </a:t>
            </a:r>
            <a:r>
              <a:rPr lang="hu-HU" sz="2200" dirty="0" err="1"/>
              <a:t>hash</a:t>
            </a:r>
            <a:r>
              <a:rPr lang="hu-HU" sz="2200" dirty="0"/>
              <a:t>-el, majd `</a:t>
            </a:r>
            <a:r>
              <a:rPr lang="hu-HU" sz="2200" dirty="0" err="1"/>
              <a:t>memcmp</a:t>
            </a:r>
            <a:r>
              <a:rPr lang="hu-HU" sz="2200" dirty="0"/>
              <a:t>`-</a:t>
            </a:r>
            <a:r>
              <a:rPr lang="hu-HU" sz="2200" dirty="0" err="1"/>
              <a:t>pel</a:t>
            </a:r>
            <a:r>
              <a:rPr lang="hu-HU" sz="2200" dirty="0"/>
              <a:t> összehasonlítja a </a:t>
            </a:r>
            <a:r>
              <a:rPr lang="hu-HU" sz="2200" dirty="0" err="1"/>
              <a:t>hash</a:t>
            </a:r>
            <a:r>
              <a:rPr lang="hu-HU" sz="2200" dirty="0"/>
              <a:t>-tömbbel. Ezután párhuzamosan is ellenőrzi a </a:t>
            </a:r>
            <a:r>
              <a:rPr lang="hu-HU" sz="2200" dirty="0" err="1"/>
              <a:t>hash-eket</a:t>
            </a:r>
            <a:r>
              <a:rPr lang="hu-HU" sz="2200" dirty="0"/>
              <a:t> a `</a:t>
            </a:r>
            <a:r>
              <a:rPr lang="hu-HU" sz="2200" dirty="0" err="1"/>
              <a:t>fh_compute_parallel</a:t>
            </a:r>
            <a:r>
              <a:rPr lang="hu-HU" sz="2200" dirty="0"/>
              <a:t>` függvénnyel </a:t>
            </a:r>
            <a:r>
              <a:rPr lang="hu-HU" sz="2200" dirty="0" err="1"/>
              <a:t>OpenMP</a:t>
            </a:r>
            <a:r>
              <a:rPr lang="hu-HU" sz="2200" dirty="0"/>
              <a:t> segítségével. A `</a:t>
            </a:r>
            <a:r>
              <a:rPr lang="hu-HU" sz="2200" dirty="0" err="1"/>
              <a:t>timer</a:t>
            </a:r>
            <a:r>
              <a:rPr lang="hu-HU" sz="2200" dirty="0"/>
              <a:t>` modul mindkét futást méri, a `</a:t>
            </a:r>
            <a:r>
              <a:rPr lang="hu-HU" sz="2200" dirty="0" err="1"/>
              <a:t>perf_stats</a:t>
            </a:r>
            <a:r>
              <a:rPr lang="hu-HU" sz="2200" dirty="0"/>
              <a:t>` pedig kiszámolja a MB/s áteresztést, a gyorsulást és a hatékonyságot. Végül a konzolra kiírja az eredményt („OK” vagy „FAIL”), a futási időket és a teljesítménymutatókat, majd felszabadítja a memóriát.</a:t>
            </a:r>
          </a:p>
        </p:txBody>
      </p:sp>
    </p:spTree>
    <p:extLst>
      <p:ext uri="{BB962C8B-B14F-4D97-AF65-F5344CB8AC3E}">
        <p14:creationId xmlns:p14="http://schemas.microsoft.com/office/powerpoint/2010/main" val="423316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Statisztikák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2A06C4E6-26BC-2762-66B6-7E471745C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66604"/>
              </p:ext>
            </p:extLst>
          </p:nvPr>
        </p:nvGraphicFramePr>
        <p:xfrm>
          <a:off x="0" y="2147630"/>
          <a:ext cx="1219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524660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531608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433839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24167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17133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3107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err="1"/>
                        <a:t>Threak</a:t>
                      </a:r>
                      <a:r>
                        <a:rPr lang="hu-HU" dirty="0"/>
                        <a:t>-ek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1Thread Idő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Párhuzamos Idő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Párhuzamos seb.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Gyorsítás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/>
                        <a:t>Hatékyonság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47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0.676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0.707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991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-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68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2.04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0.616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1139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6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0.659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0.104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6752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0.794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98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3.77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0.68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1032 MB/s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0.347-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627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502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D07EEAB1-7F96-1E59-3A62-83C5DE44C84D}"/>
              </a:ext>
            </a:extLst>
          </p:cNvPr>
          <p:cNvSpPr txBox="1"/>
          <p:nvPr/>
        </p:nvSpPr>
        <p:spPr>
          <a:xfrm>
            <a:off x="0" y="3112715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500" b="1" cap="small" dirty="0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3. Feladat – Fájl titkosítás egyszerűsített AES256 C#</a:t>
            </a:r>
          </a:p>
        </p:txBody>
      </p:sp>
    </p:spTree>
    <p:extLst>
      <p:ext uri="{BB962C8B-B14F-4D97-AF65-F5344CB8AC3E}">
        <p14:creationId xmlns:p14="http://schemas.microsoft.com/office/powerpoint/2010/main" val="187237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Mi az az AES256?</a:t>
            </a:r>
          </a:p>
          <a:p>
            <a:endParaRPr lang="hu-HU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200" dirty="0"/>
              <a:t>AES (Advanced </a:t>
            </a:r>
            <a:r>
              <a:rPr lang="hu-HU" sz="2200" dirty="0" err="1"/>
              <a:t>Encryption</a:t>
            </a:r>
            <a:r>
              <a:rPr lang="hu-HU" sz="2200" dirty="0"/>
              <a:t> Standard): Szabványosított, szimmetrikus </a:t>
            </a:r>
            <a:r>
              <a:rPr lang="hu-HU" sz="2200" dirty="0" err="1"/>
              <a:t>blokkkódolási</a:t>
            </a:r>
            <a:r>
              <a:rPr lang="hu-HU" sz="2200" dirty="0"/>
              <a:t> algoritmus (NIST, 2001).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200" dirty="0"/>
              <a:t>Kulcshossz: 256 bit – a legnagyobb biztonságú változat (256 bites </a:t>
            </a:r>
            <a:r>
              <a:rPr lang="hu-HU" sz="2200" dirty="0" err="1"/>
              <a:t>titkosítókulcs</a:t>
            </a:r>
            <a:r>
              <a:rPr lang="hu-HU" sz="22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200" dirty="0"/>
              <a:t>Blokkméret: 128 bit; a bemenetet 128 bites blokkokra bontja és azokon végez többszörös köröket (14 kör AES-256 esetén).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200" dirty="0"/>
              <a:t>Működés: </a:t>
            </a:r>
            <a:r>
              <a:rPr lang="hu-HU" sz="2200" dirty="0" err="1"/>
              <a:t>SubBytes</a:t>
            </a:r>
            <a:r>
              <a:rPr lang="hu-HU" sz="2200" dirty="0"/>
              <a:t>, </a:t>
            </a:r>
            <a:r>
              <a:rPr lang="hu-HU" sz="2200" dirty="0" err="1"/>
              <a:t>ShiftRows</a:t>
            </a:r>
            <a:r>
              <a:rPr lang="hu-HU" sz="2200" dirty="0"/>
              <a:t>, </a:t>
            </a:r>
            <a:r>
              <a:rPr lang="hu-HU" sz="2200" dirty="0" err="1"/>
              <a:t>MixColumns</a:t>
            </a:r>
            <a:r>
              <a:rPr lang="hu-HU" sz="2200" dirty="0"/>
              <a:t> és </a:t>
            </a:r>
            <a:r>
              <a:rPr lang="hu-HU" sz="2200" dirty="0" err="1"/>
              <a:t>AddRoundKey</a:t>
            </a:r>
            <a:r>
              <a:rPr lang="hu-HU" sz="2200" dirty="0"/>
              <a:t> lépések ciklusos végrehajtása minden körben.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200" dirty="0"/>
              <a:t>Előnyök: Jelenleg nem ismert hatékony kvantum- vagy klasszikus támadás; széles körben használt adat- és kommunikációs titkosításhoz.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200" dirty="0"/>
              <a:t>Alkalmazások: VPN-ek, SSL/TLS, merevlemez- és fájl-titkosítás, banki rendszerek, biztonságos adattárolás.</a:t>
            </a:r>
          </a:p>
        </p:txBody>
      </p:sp>
    </p:spTree>
    <p:extLst>
      <p:ext uri="{BB962C8B-B14F-4D97-AF65-F5344CB8AC3E}">
        <p14:creationId xmlns:p14="http://schemas.microsoft.com/office/powerpoint/2010/main" val="2840245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Hogyan valósítottam meg  egy egyszerűsített AES256 </a:t>
            </a:r>
            <a:r>
              <a:rPr lang="hu-HU" sz="2800" b="1" dirty="0" err="1">
                <a:effectLst>
                  <a:glow rad="25400">
                    <a:schemeClr val="bg1"/>
                  </a:glow>
                </a:effectLst>
              </a:rPr>
              <a:t>titkosítót</a:t>
            </a:r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?</a:t>
            </a:r>
          </a:p>
          <a:p>
            <a:endParaRPr lang="hu-HU" dirty="0"/>
          </a:p>
          <a:p>
            <a:r>
              <a:rPr lang="hu-HU" sz="2200" dirty="0"/>
              <a:t>A jelszóból PBKDF2-SHA-256-tal (100 000 iteráció, egyedi só) állítok elő 256 bites kulcsot. A 16 bájtos blokkokon futó mag mindössze négy kört tart: minden körben </a:t>
            </a:r>
            <a:r>
              <a:rPr lang="hu-HU" sz="2200" dirty="0" err="1"/>
              <a:t>AddRoundKey</a:t>
            </a:r>
            <a:r>
              <a:rPr lang="hu-HU" sz="2200" dirty="0"/>
              <a:t>-vel XOR-</a:t>
            </a:r>
            <a:r>
              <a:rPr lang="hu-HU" sz="2200" dirty="0" err="1"/>
              <a:t>olom</a:t>
            </a:r>
            <a:r>
              <a:rPr lang="hu-HU" sz="2200" dirty="0"/>
              <a:t> a kulccsal, alkalmazok egy egyszerű </a:t>
            </a:r>
            <a:r>
              <a:rPr lang="hu-HU" sz="2200" dirty="0" err="1"/>
              <a:t>affín</a:t>
            </a:r>
            <a:r>
              <a:rPr lang="hu-HU" sz="2200" dirty="0"/>
              <a:t> </a:t>
            </a:r>
            <a:r>
              <a:rPr lang="hu-HU" sz="2200" dirty="0" err="1"/>
              <a:t>SubBytes</a:t>
            </a:r>
            <a:r>
              <a:rPr lang="hu-HU" sz="2200" dirty="0"/>
              <a:t> transzformációt (7·x + 13 </a:t>
            </a:r>
            <a:r>
              <a:rPr lang="hu-HU" sz="2200" dirty="0" err="1"/>
              <a:t>mod</a:t>
            </a:r>
            <a:r>
              <a:rPr lang="hu-HU" sz="2200" dirty="0"/>
              <a:t> 256), majd balra forgatok (r + 1)·3 bájtot; visszafejtésnél e lépések inverzei futnak. A bemenetet PKCS#7-kompatibilisen töltöm ki, így mindig blokkhatáron dolgozom.</a:t>
            </a:r>
          </a:p>
          <a:p>
            <a:endParaRPr lang="hu-HU" sz="2200" dirty="0"/>
          </a:p>
          <a:p>
            <a:r>
              <a:rPr lang="hu-HU" sz="2200" dirty="0"/>
              <a:t>A blokkokat stratégia-mintával párhuzamosítom: </a:t>
            </a:r>
            <a:r>
              <a:rPr lang="hu-HU" sz="2200" dirty="0" err="1"/>
              <a:t>Parallel.For</a:t>
            </a:r>
            <a:r>
              <a:rPr lang="hu-HU" sz="2200" dirty="0"/>
              <a:t>, fix batch-es </a:t>
            </a:r>
            <a:r>
              <a:rPr lang="hu-HU" sz="2200" dirty="0" err="1"/>
              <a:t>Task</a:t>
            </a:r>
            <a:r>
              <a:rPr lang="hu-HU" sz="2200" dirty="0"/>
              <a:t> alapú és </a:t>
            </a:r>
            <a:r>
              <a:rPr lang="hu-HU" sz="2200" dirty="0" err="1"/>
              <a:t>async</a:t>
            </a:r>
            <a:r>
              <a:rPr lang="hu-HU" sz="2200" dirty="0"/>
              <a:t>/</a:t>
            </a:r>
            <a:r>
              <a:rPr lang="hu-HU" sz="2200" dirty="0" err="1"/>
              <a:t>await</a:t>
            </a:r>
            <a:r>
              <a:rPr lang="hu-HU" sz="2200" dirty="0"/>
              <a:t>-es, </a:t>
            </a:r>
            <a:r>
              <a:rPr lang="hu-HU" sz="2200" dirty="0" err="1"/>
              <a:t>SemaphoreSlim-mel</a:t>
            </a:r>
            <a:r>
              <a:rPr lang="hu-HU" sz="2200" dirty="0"/>
              <a:t> korlátozott változatok versenyeznek az egy-szálas referenciával. A főprogram méri a futásidőt, áteresztést, </a:t>
            </a:r>
            <a:r>
              <a:rPr lang="hu-HU" sz="2200" dirty="0" err="1"/>
              <a:t>speed</a:t>
            </a:r>
            <a:r>
              <a:rPr lang="hu-HU" sz="2200" dirty="0"/>
              <a:t>-</a:t>
            </a:r>
            <a:r>
              <a:rPr lang="hu-HU" sz="2200" dirty="0" err="1"/>
              <a:t>up</a:t>
            </a:r>
            <a:r>
              <a:rPr lang="hu-HU" sz="2200" dirty="0"/>
              <a:t>-ot és </a:t>
            </a:r>
            <a:r>
              <a:rPr lang="hu-HU" sz="2200" dirty="0" err="1"/>
              <a:t>magonkénti</a:t>
            </a:r>
            <a:r>
              <a:rPr lang="hu-HU" sz="2200" dirty="0"/>
              <a:t> hatékonyságot.</a:t>
            </a:r>
          </a:p>
        </p:txBody>
      </p:sp>
    </p:spTree>
    <p:extLst>
      <p:ext uri="{BB962C8B-B14F-4D97-AF65-F5344CB8AC3E}">
        <p14:creationId xmlns:p14="http://schemas.microsoft.com/office/powerpoint/2010/main" val="208582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7AA723-5A69-AC47-C22E-C9B40A4626A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effectLst>
                  <a:glow rad="25400">
                    <a:schemeClr val="bg1"/>
                  </a:glow>
                </a:effectLst>
              </a:rPr>
              <a:t>Statisztikák</a:t>
            </a:r>
          </a:p>
        </p:txBody>
      </p:sp>
    </p:spTree>
    <p:extLst>
      <p:ext uri="{BB962C8B-B14F-4D97-AF65-F5344CB8AC3E}">
        <p14:creationId xmlns:p14="http://schemas.microsoft.com/office/powerpoint/2010/main" val="302781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D07EEAB1-7F96-1E59-3A62-83C5DE44C84D}"/>
              </a:ext>
            </a:extLst>
          </p:cNvPr>
          <p:cNvSpPr txBox="1"/>
          <p:nvPr/>
        </p:nvSpPr>
        <p:spPr>
          <a:xfrm>
            <a:off x="0" y="3112715"/>
            <a:ext cx="121920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500" b="1" cap="small" dirty="0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Köszönöm a figyelmet!</a:t>
            </a:r>
          </a:p>
          <a:p>
            <a:pPr algn="ctr"/>
            <a:endParaRPr lang="hu-HU" sz="3500" b="1" cap="small" dirty="0">
              <a:effectLst>
                <a:glow rad="25400">
                  <a:schemeClr val="bg1">
                    <a:lumMod val="95000"/>
                  </a:schemeClr>
                </a:glow>
              </a:effectLst>
            </a:endParaRPr>
          </a:p>
          <a:p>
            <a:pPr algn="ctr"/>
            <a:r>
              <a:rPr lang="hu-HU" sz="3500" b="1" cap="small" dirty="0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Készítette:</a:t>
            </a:r>
          </a:p>
          <a:p>
            <a:pPr algn="ctr"/>
            <a:r>
              <a:rPr lang="hu-HU" sz="3500" b="1" cap="small" dirty="0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Baba Levente</a:t>
            </a:r>
          </a:p>
          <a:p>
            <a:pPr algn="ctr"/>
            <a:r>
              <a:rPr lang="hu-HU" sz="3500" b="1" cap="small" dirty="0">
                <a:effectLst>
                  <a:glow rad="25400">
                    <a:schemeClr val="bg1">
                      <a:lumMod val="95000"/>
                    </a:schemeClr>
                  </a:glow>
                </a:effectLst>
              </a:rPr>
              <a:t>HLFA5R</a:t>
            </a:r>
          </a:p>
        </p:txBody>
      </p:sp>
    </p:spTree>
    <p:extLst>
      <p:ext uri="{BB962C8B-B14F-4D97-AF65-F5344CB8AC3E}">
        <p14:creationId xmlns:p14="http://schemas.microsoft.com/office/powerpoint/2010/main" val="3713989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FF00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1125</Words>
  <Application>Microsoft Office PowerPoint</Application>
  <PresentationFormat>Szélesvásznú</PresentationFormat>
  <Paragraphs>107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 Baba</dc:creator>
  <cp:lastModifiedBy>Levente Baba</cp:lastModifiedBy>
  <cp:revision>12</cp:revision>
  <dcterms:created xsi:type="dcterms:W3CDTF">2025-06-01T18:59:40Z</dcterms:created>
  <dcterms:modified xsi:type="dcterms:W3CDTF">2025-06-01T22:21:51Z</dcterms:modified>
</cp:coreProperties>
</file>